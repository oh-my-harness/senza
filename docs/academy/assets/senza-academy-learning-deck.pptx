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798f8d437d45d7" /><Relationship Type="http://schemas.openxmlformats.org/officeDocument/2006/relationships/extended-properties" Target="/docProps/app.xml" Id="R02a22c3c5fd34f0a" /><Relationship Type="http://schemas.openxmlformats.org/officeDocument/2006/relationships/officeDocument" Target="/ppt/presentation.xml" Id="Rb5589d6709034b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846d4a4c654c8e"/>
  </p:sldMasterIdLst>
  <p:notesMasterIdLst>
    <p:notesMasterId xmlns:r="http://schemas.openxmlformats.org/officeDocument/2006/relationships" r:id="Rfa952adb23ef41c2"/>
  </p:notesMasterIdLst>
  <p:sldIdLst>
    <p:sldId xmlns:r="http://schemas.openxmlformats.org/officeDocument/2006/relationships" id="256" r:id="R6c7eeda2b9ae43c7"/>
    <p:sldId xmlns:r="http://schemas.openxmlformats.org/officeDocument/2006/relationships" id="257" r:id="Re1e3601a49da4710"/>
    <p:sldId xmlns:r="http://schemas.openxmlformats.org/officeDocument/2006/relationships" id="258" r:id="R23f630a912cb432c"/>
    <p:sldId xmlns:r="http://schemas.openxmlformats.org/officeDocument/2006/relationships" id="259" r:id="R4dcb65d1102c41b7"/>
    <p:sldId xmlns:r="http://schemas.openxmlformats.org/officeDocument/2006/relationships" id="260" r:id="R5a148fef6988435f"/>
    <p:sldId xmlns:r="http://schemas.openxmlformats.org/officeDocument/2006/relationships" id="261" r:id="R40fab73d2c1347a5"/>
    <p:sldId xmlns:r="http://schemas.openxmlformats.org/officeDocument/2006/relationships" id="262" r:id="R51021ff9db3f456a"/>
    <p:sldId xmlns:r="http://schemas.openxmlformats.org/officeDocument/2006/relationships" id="263" r:id="Re8de32918dfa4429"/>
    <p:sldId xmlns:r="http://schemas.openxmlformats.org/officeDocument/2006/relationships" id="264" r:id="Rc1f02159c3b2470c"/>
    <p:sldId xmlns:r="http://schemas.openxmlformats.org/officeDocument/2006/relationships" id="265" r:id="R256a47231fc2421a"/>
    <p:sldId xmlns:r="http://schemas.openxmlformats.org/officeDocument/2006/relationships" id="266" r:id="R9d26330d321c48fb"/>
    <p:sldId xmlns:r="http://schemas.openxmlformats.org/officeDocument/2006/relationships" id="267" r:id="R5183a55a48294f50"/>
    <p:sldId xmlns:r="http://schemas.openxmlformats.org/officeDocument/2006/relationships" id="268" r:id="R9af609b78b434052"/>
    <p:sldId xmlns:r="http://schemas.openxmlformats.org/officeDocument/2006/relationships" id="269" r:id="R9c9d1569d3664a4e"/>
    <p:sldId xmlns:r="http://schemas.openxmlformats.org/officeDocument/2006/relationships" id="270" r:id="R05f68c7281ee46c6"/>
    <p:sldId xmlns:r="http://schemas.openxmlformats.org/officeDocument/2006/relationships" id="271" r:id="Rb38e28a767f647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9a8f27d8014e5e" /><Relationship Type="http://schemas.openxmlformats.org/officeDocument/2006/relationships/slideMaster" Target="/ppt/slideMasters/slideMaster1.xml" Id="Rf8846d4a4c654c8e" /><Relationship Type="http://schemas.openxmlformats.org/officeDocument/2006/relationships/notesMaster" Target="/ppt/notesMasters/notesMaster1.xml" Id="Rfa952adb23ef41c2" /><Relationship Type="http://schemas.openxmlformats.org/officeDocument/2006/relationships/presProps" Target="/ppt/presProps.xml" Id="Rd5ecd7590ff24e4b" /><Relationship Type="http://schemas.openxmlformats.org/officeDocument/2006/relationships/tableStyles" Target="/ppt/tableStyles.xml" Id="R820c8c4612dd4e6b" /><Relationship Type="http://schemas.openxmlformats.org/officeDocument/2006/relationships/slide" Target="/ppt/slides/slide1.xml" Id="R6c7eeda2b9ae43c7" /><Relationship Type="http://schemas.openxmlformats.org/officeDocument/2006/relationships/slide" Target="/ppt/slides/slide2.xml" Id="Re1e3601a49da4710" /><Relationship Type="http://schemas.openxmlformats.org/officeDocument/2006/relationships/slide" Target="/ppt/slides/slide3.xml" Id="R23f630a912cb432c" /><Relationship Type="http://schemas.openxmlformats.org/officeDocument/2006/relationships/slide" Target="/ppt/slides/slide4.xml" Id="R4dcb65d1102c41b7" /><Relationship Type="http://schemas.openxmlformats.org/officeDocument/2006/relationships/slide" Target="/ppt/slides/slide5.xml" Id="R5a148fef6988435f" /><Relationship Type="http://schemas.openxmlformats.org/officeDocument/2006/relationships/slide" Target="/ppt/slides/slide6.xml" Id="R40fab73d2c1347a5" /><Relationship Type="http://schemas.openxmlformats.org/officeDocument/2006/relationships/slide" Target="/ppt/slides/slide7.xml" Id="R51021ff9db3f456a" /><Relationship Type="http://schemas.openxmlformats.org/officeDocument/2006/relationships/slide" Target="/ppt/slides/slide8.xml" Id="Re8de32918dfa4429" /><Relationship Type="http://schemas.openxmlformats.org/officeDocument/2006/relationships/slide" Target="/ppt/slides/slide9.xml" Id="Rc1f02159c3b2470c" /><Relationship Type="http://schemas.openxmlformats.org/officeDocument/2006/relationships/slide" Target="/ppt/slides/slide10.xml" Id="R256a47231fc2421a" /><Relationship Type="http://schemas.openxmlformats.org/officeDocument/2006/relationships/slide" Target="/ppt/slides/slide11.xml" Id="R9d26330d321c48fb" /><Relationship Type="http://schemas.openxmlformats.org/officeDocument/2006/relationships/slide" Target="/ppt/slides/slide12.xml" Id="R5183a55a48294f50" /><Relationship Type="http://schemas.openxmlformats.org/officeDocument/2006/relationships/slide" Target="/ppt/slides/slide13.xml" Id="R9af609b78b434052" /><Relationship Type="http://schemas.openxmlformats.org/officeDocument/2006/relationships/slide" Target="/ppt/slides/slide14.xml" Id="R9c9d1569d3664a4e" /><Relationship Type="http://schemas.openxmlformats.org/officeDocument/2006/relationships/slide" Target="/ppt/slides/slide15.xml" Id="R05f68c7281ee46c6" /><Relationship Type="http://schemas.openxmlformats.org/officeDocument/2006/relationships/slide" Target="/ppt/slides/slide16.xml" Id="Rb38e28a767f647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126c71d9b74e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f7aee2968946fb" /><Relationship Type="http://schemas.openxmlformats.org/officeDocument/2006/relationships/notesMaster" Target="/ppt/notesMasters/notesMaster1.xml" Id="R425c08ce229c4f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ee3cd1ecc74e76" /><Relationship Type="http://schemas.openxmlformats.org/officeDocument/2006/relationships/notesMaster" Target="/ppt/notesMasters/notesMaster1.xml" Id="Rd6aca787eb504f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1f80af0006439a" /><Relationship Type="http://schemas.openxmlformats.org/officeDocument/2006/relationships/notesMaster" Target="/ppt/notesMasters/notesMaster1.xml" Id="R26bce2e6c8d442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0a02f73b9242cb" /><Relationship Type="http://schemas.openxmlformats.org/officeDocument/2006/relationships/notesMaster" Target="/ppt/notesMasters/notesMaster1.xml" Id="Rac2eac97cd914b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81cd45244b45af" /><Relationship Type="http://schemas.openxmlformats.org/officeDocument/2006/relationships/notesMaster" Target="/ppt/notesMasters/notesMaster1.xml" Id="R16a5dfc7e8ca44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d005b95033439f" /><Relationship Type="http://schemas.openxmlformats.org/officeDocument/2006/relationships/notesMaster" Target="/ppt/notesMasters/notesMaster1.xml" Id="R76ad033a17ad4d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e5a16ded784bcb" /><Relationship Type="http://schemas.openxmlformats.org/officeDocument/2006/relationships/notesMaster" Target="/ppt/notesMasters/notesMaster1.xml" Id="R9aa1568e54d94e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53818367a64c30" /><Relationship Type="http://schemas.openxmlformats.org/officeDocument/2006/relationships/notesMaster" Target="/ppt/notesMasters/notesMaster1.xml" Id="R198dbf6cfce548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001b3ce1d14f9b" /><Relationship Type="http://schemas.openxmlformats.org/officeDocument/2006/relationships/notesMaster" Target="/ppt/notesMasters/notesMaster1.xml" Id="Rf6a53e75130042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9db21eee094ffa" /><Relationship Type="http://schemas.openxmlformats.org/officeDocument/2006/relationships/notesMaster" Target="/ppt/notesMasters/notesMaster1.xml" Id="R0886ac32503b49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6a11e520d344cf" /><Relationship Type="http://schemas.openxmlformats.org/officeDocument/2006/relationships/notesMaster" Target="/ppt/notesMasters/notesMaster1.xml" Id="R85c5f50a8c1a40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f60b26881f4548" /><Relationship Type="http://schemas.openxmlformats.org/officeDocument/2006/relationships/notesMaster" Target="/ppt/notesMasters/notesMaster1.xml" Id="Rf9e04c41a53b48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cec1d9b6654565" /><Relationship Type="http://schemas.openxmlformats.org/officeDocument/2006/relationships/notesMaster" Target="/ppt/notesMasters/notesMaster1.xml" Id="Refe67fe193d448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7bab9eedf14807" /><Relationship Type="http://schemas.openxmlformats.org/officeDocument/2006/relationships/notesMaster" Target="/ppt/notesMasters/notesMaster1.xml" Id="R547f2f052c794c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857f7372824e54" /><Relationship Type="http://schemas.openxmlformats.org/officeDocument/2006/relationships/notesMaster" Target="/ppt/notesMasters/notesMaster1.xml" Id="R693bcf5d777a41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597832a2d9442f" /><Relationship Type="http://schemas.openxmlformats.org/officeDocument/2006/relationships/notesMaster" Target="/ppt/notesMasters/notesMaster1.xml" Id="Rbd36d6062c1441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开场：先用书中的理论问题定位 Runtime/Senza，而不是从 API 清单开始。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ai-agent-book/book/chapter1.md — 现代 Agent、ReAct 与 Harness 工程</a:t>
            </a:r>
          </a:p>
          <a:p xmlns:a="http://schemas.openxmlformats.org/drawingml/2006/main">
            <a:r>
              <a:t>- Senza/docs/academy/2026-08-19-senza-academy-ai-agent-book-plan.md — 课程传播命题与四层架构</a:t>
            </a:r>
          </a:p>
          <a:p xmlns:a="http://schemas.openxmlformats.org/drawingml/2006/main">
            <a:r>
              <a:t>- Source snapshots: Runtime c1a82733593b; Senza 53cb8b5e71cf; book 1d2e04ee733d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用一页把单次 Chat Completion 与 Agent 核心循环区分开。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ai-agent-book/book/chapter1.md — ReAct 循环、观察空间与动作空间</a:t>
            </a:r>
          </a:p>
          <a:p xmlns:a="http://schemas.openxmlformats.org/drawingml/2006/main">
            <a:r>
              <a:t>- ai-agent-book/book/chapter2.md — 带工具调用的多轮交互与核心循环</a:t>
            </a:r>
          </a:p>
          <a:p xmlns:a="http://schemas.openxmlformats.org/drawingml/2006/main">
            <a:r>
              <a:t>- repository/crates/llm-harness-agent/src/harness/loop_driver.rs — AgentHarness 循环驱动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Harness 拆成五类责任，帮助听众理解为什么不能把所有逻辑塞进 system prompt。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ai-agent-book/book/chapter1.md — Harness 工程与五要素</a:t>
            </a:r>
          </a:p>
          <a:p xmlns:a="http://schemas.openxmlformats.org/drawingml/2006/main">
            <a:r>
              <a:t>- Senza/docs/academy/architecture.md — Model–Harness 边界</a:t>
            </a:r>
          </a:p>
          <a:p xmlns:a="http://schemas.openxmlformats.org/drawingml/2006/main">
            <a:r>
              <a:t>- Senza/docs/academy/2026-08-19-senza-academy-ai-agent-book-plan.md — 统一架构叙事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四层图是整套课程的主地图：后续每个组件都能回到这一层定位。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Senza/docs/academy/architecture.md — Environment / Senza / Runtime / Model 边界</a:t>
            </a:r>
          </a:p>
          <a:p xmlns:a="http://schemas.openxmlformats.org/drawingml/2006/main">
            <a:r>
              <a:t>- repository/crates/llm-harness-agent/src/harness/core.rs — AgentHarness</a:t>
            </a:r>
          </a:p>
          <a:p xmlns:a="http://schemas.openxmlformats.org/drawingml/2006/main">
            <a:r>
              <a:t>- repository/crates/llm-harness-agent/src/plugin.rs — Plugin 协议</a:t>
            </a:r>
          </a:p>
          <a:p xmlns:a="http://schemas.openxmlformats.org/drawingml/2006/main">
            <a:r>
              <a:t>- Senza/src/core/pybuilder.rs — Python Builder 装配面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小而稳定的价值，是所有策略共享同一套状态机与失败语义。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repository/crates/llm-harness-agent/src/harness/core.rs — AgentHarness 状态与入口</a:t>
            </a:r>
          </a:p>
          <a:p xmlns:a="http://schemas.openxmlformats.org/drawingml/2006/main">
            <a:r>
              <a:t>- repository/crates/llm-harness-agent/src/harness/loop_driver.rs — Run–Turn–Provider–Tool 驱动</a:t>
            </a:r>
          </a:p>
          <a:p xmlns:a="http://schemas.openxmlformats.org/drawingml/2006/main">
            <a:r>
              <a:t>- ai-agent-book/book/chapter1.md — 从提示工程到 Loop 工程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强调固定挂载点与开放实现之间的区别；Hook 不是任意 AOP 插桩。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Senza/docs/academy/architecture.md — 12 Hook 完整清单与固定边界说明</a:t>
            </a:r>
          </a:p>
          <a:p xmlns:a="http://schemas.openxmlformats.org/drawingml/2006/main">
            <a:r>
              <a:t>- repository/crates/llm-harness-agent/src/harness/hooks.rs — Hook 集合与组合入口</a:t>
            </a:r>
          </a:p>
          <a:p xmlns:a="http://schemas.openxmlformats.org/drawingml/2006/main">
            <a:r>
              <a:t>- repository/crates/llm-harness-agent/src/harness/loop_driver.rs — Hook 调用位置</a:t>
            </a:r>
          </a:p>
          <a:p xmlns:a="http://schemas.openxmlformats.org/drawingml/2006/main">
            <a:r>
              <a:t>- Senza/academy/labs/02_hook_xray/README.md — 教学生命周期地图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Plugin 的易扩展来自“贡献协议 + 构建期验证”，而不是任意动态改写。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repository/crates/llm-harness-agent/src/plugin.rs — Rust Plugin 贡献 tools/hooks/skills/templates</a:t>
            </a:r>
          </a:p>
          <a:p xmlns:a="http://schemas.openxmlformats.org/drawingml/2006/main">
            <a:r>
              <a:t>- repository/crates/llm-harness-runtime/src/builder.rs — 构建期收集与工具冲突校验</a:t>
            </a:r>
          </a:p>
          <a:p xmlns:a="http://schemas.openxmlformats.org/drawingml/2006/main">
            <a:r>
              <a:t>- Senza/src/core/pybuilder.rs — Python create_plugin 与 Builder.plugin</a:t>
            </a:r>
          </a:p>
          <a:p xmlns:a="http://schemas.openxmlformats.org/drawingml/2006/main">
            <a:r>
              <a:t>- Senza/live-tests/examples/32_plugins.py — db-safety Plugin 与 step scope 示例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用数据库安全示例把 Hook 的短路、改写和放行变成可观察行为。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Senza/live-tests/examples/32_plugins.py — allow/modify/deny 的实际回调契约</a:t>
            </a:r>
          </a:p>
          <a:p xmlns:a="http://schemas.openxmlformats.org/drawingml/2006/main">
            <a:r>
              <a:t>- Senza/academy/labs/03_plugin_db_safety/README.md — 离线可重放实验</a:t>
            </a:r>
          </a:p>
          <a:p xmlns:a="http://schemas.openxmlformats.org/drawingml/2006/main">
            <a:r>
              <a:t>- repository/crates/llm-harness-agent/src/harness/hooks.rs — Composite Hook 语义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Context 的层次、渐进披露、状态栏和压缩放到同一张图上。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ai-agent-book/book/chapter2.md — KV Cache 友好设计、Skills、状态栏与上下文压缩</a:t>
            </a:r>
          </a:p>
          <a:p xmlns:a="http://schemas.openxmlformats.org/drawingml/2006/main">
            <a:r>
              <a:t>- Senza/live-tests/examples/05_compaction.py — 手动 compact()</a:t>
            </a:r>
          </a:p>
          <a:p xmlns:a="http://schemas.openxmlformats.org/drawingml/2006/main">
            <a:r>
              <a:t>- Senza/live-tests/examples/21_context_aware_compact.py — 上下文感知压缩</a:t>
            </a:r>
          </a:p>
          <a:p xmlns:a="http://schemas.openxmlformats.org/drawingml/2006/main">
            <a:r>
              <a:t>- Senza/academy/labs/04_context_layers/README.md — recorded context diff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专门回答 Store 的含义：它是多类状态后端的泛称，不是共享的万能存储。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ai-agent-book/book/chapter3.md — 用户记忆、RAG 与知识组织</a:t>
            </a:r>
          </a:p>
          <a:p xmlns:a="http://schemas.openxmlformats.org/drawingml/2006/main">
            <a:r>
              <a:t>- repository/crates/llm-harness-runtime/src/lifecycle/task_store.rs — Workflow TaskStore</a:t>
            </a:r>
          </a:p>
          <a:p xmlns:a="http://schemas.openxmlformats.org/drawingml/2006/main">
            <a:r>
              <a:t>- repository/crates/llm-harness-runtime-memory/src/store.rs — MemoryStore 契约</a:t>
            </a:r>
          </a:p>
          <a:p xmlns:a="http://schemas.openxmlformats.org/drawingml/2006/main">
            <a:r>
              <a:t>- repository/crates/llm-harness-runtime-knowledge-local/src/index.rs — 本地 BM25 索引</a:t>
            </a:r>
          </a:p>
          <a:p xmlns:a="http://schemas.openxmlformats.org/drawingml/2006/main">
            <a:r>
              <a:t>- repository/crates/llm-harness-runtime-session-recall/src/projector.rs — Recall projector</a:t>
            </a:r>
          </a:p>
          <a:p xmlns:a="http://schemas.openxmlformats.org/drawingml/2006/main">
            <a:r>
              <a:t>- Senza/src/knowledge/pymemory.rs; pysessionrecall.rs — 当前 Python 暴露边界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Coding Agent 的能力闭环和安全闭环放在同一张图上。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ai-agent-book/book/chapter5.md — Coding Agent 流程、Harness 实践与安全</a:t>
            </a:r>
          </a:p>
          <a:p xmlns:a="http://schemas.openxmlformats.org/drawingml/2006/main">
            <a:r>
              <a:t>- Senza/academy/labs/05_coding_guardrails/README.md — 一行修复与危险命令拒绝</a:t>
            </a:r>
          </a:p>
          <a:p xmlns:a="http://schemas.openxmlformats.org/drawingml/2006/main">
            <a:r>
              <a:t>- Senza/docs/academy/capability-boundaries.md — OS 环境不等于强沙箱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以控制权归属区分 Agent 与 Workflow，再用恢复和 HITL 说明工程价值。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ai-agent-book/book/chapter1.md — 编排模式：工作流与自主</a:t>
            </a:r>
          </a:p>
          <a:p xmlns:a="http://schemas.openxmlformats.org/drawingml/2006/main">
            <a:r>
              <a:t>- repository/crates/llm-harness-runtime/src/lifecycle/task_store.rs — TaskStore</a:t>
            </a:r>
          </a:p>
          <a:p xmlns:a="http://schemas.openxmlformats.org/drawingml/2006/main">
            <a:r>
              <a:t>- Senza/academy/labs/06_workflow_recovery_hitl/README.md — draft→check→approve→publish</a:t>
            </a:r>
          </a:p>
          <a:p xmlns:a="http://schemas.openxmlformats.org/drawingml/2006/main">
            <a:r>
              <a:t>- Senza/live-tests/examples/09_workflow_recovery.py — 当前恢复语义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Academy Lab 09 的确定性数据说明 Pass@k 与 Pass^k 的业务含义。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ai-agent-book/book/chapter7.md — Pass@k、Pass^k、过程指标与成本分析</a:t>
            </a:r>
          </a:p>
          <a:p xmlns:a="http://schemas.openxmlformats.org/drawingml/2006/main">
            <a:r>
              <a:t>- Senza/academy/labs/09_reliability_eval/expected_report.md — 4/9、9/9、Pass@3 与 Pass^3</a:t>
            </a:r>
          </a:p>
          <a:p xmlns:a="http://schemas.openxmlformats.org/drawingml/2006/main">
            <a:r>
              <a:t>- Senza/academy/labs/09_reliability_eval/evaluation.py — 教学评测实现</a:t>
            </a:r>
          </a:p>
          <a:p xmlns:a="http://schemas.openxmlformats.org/drawingml/2006/main">
            <a:r>
              <a:t>- Boundary: this is an Academy teaching runner, not a built-in Runtime eval platform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 Agent 页只讲当前可证明的最小能力与限制，避免能力包装。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ai-agent-book/book/chapter10.md — 上下文隔离、Manager 拓扑与失败模式</a:t>
            </a:r>
          </a:p>
          <a:p xmlns:a="http://schemas.openxmlformats.org/drawingml/2006/main">
            <a:r>
              <a:t>- repository/crates/llm-harness-runtime/src/spawn/tools.rs — 主侧与子侧工具类型</a:t>
            </a:r>
          </a:p>
          <a:p xmlns:a="http://schemas.openxmlformats.org/drawingml/2006/main">
            <a:r>
              <a:t>- Senza/src/runtime/pyspawn.rs — 当前 Python spawn 装配</a:t>
            </a:r>
          </a:p>
          <a:p xmlns:a="http://schemas.openxmlformats.org/drawingml/2006/main">
            <a:r>
              <a:t>- Senza/academy/labs/08_basic_multi_agent/README.md — 两个隔离 child 的确定性状态模型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proposal-only 闭环说明持续进化的安全边界。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ai-agent-book/book/chapter9.md — 从轨迹获得学习信号、将经验写成知识/指令/程序</a:t>
            </a:r>
          </a:p>
          <a:p xmlns:a="http://schemas.openxmlformats.org/drawingml/2006/main">
            <a:r>
              <a:t>- ai-agent-book/book/chapter7.md — 从评估结果到系统改进</a:t>
            </a:r>
          </a:p>
          <a:p xmlns:a="http://schemas.openxmlformats.org/drawingml/2006/main">
            <a:r>
              <a:t>- Senza/academy/labs/10_improvement_proposal/README.md — proposal-only pipeline</a:t>
            </a:r>
          </a:p>
          <a:p xmlns:a="http://schemas.openxmlformats.org/drawingml/2006/main">
            <a:r>
              <a:t>- Boundary: no automatic install, production writes, SFT, or RL in Academy 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收束到可执行的学习路线，并明确 stable / preview / teaching 三类成熟度。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Senza/academy/course_manifest.json — 十个实验与成熟度</a:t>
            </a:r>
          </a:p>
          <a:p xmlns:a="http://schemas.openxmlformats.org/drawingml/2006/main">
            <a:r>
              <a:t>- Senza/academy/README.md — recorded / live 双模式与运行方式</a:t>
            </a:r>
          </a:p>
          <a:p xmlns:a="http://schemas.openxmlformats.org/drawingml/2006/main">
            <a:r>
              <a:t>- Senza/docs/academy/2026-08-19-senza-academy-ai-agent-book-plan.md — 分阶段实施与验收</a:t>
            </a:r>
          </a:p>
          <a:p xmlns:a="http://schemas.openxmlformats.org/drawingml/2006/main">
            <a:r>
              <a:t>- Validation evidence: academy tests 54 passed; all 10 recorded demos completed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bc3ccac6345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105fd0839449b4" /><Relationship Type="http://schemas.openxmlformats.org/officeDocument/2006/relationships/slideLayout" Target="/ppt/slideLayouts/slideLayout1.xml" Id="Rb2c7a639ff5f46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c7a639ff5f46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b7968835749d5" /><Relationship Type="http://schemas.openxmlformats.org/officeDocument/2006/relationships/notesSlide" Target="/ppt/notesSlides/notesSlide1.xml" Id="R93cf5cd454c34c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b253587a54daf" /><Relationship Type="http://schemas.openxmlformats.org/officeDocument/2006/relationships/notesSlide" Target="/ppt/notesSlides/notesSlide2.xml" Id="R49b19efa1b4b48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19b52ab4f439a" /><Relationship Type="http://schemas.openxmlformats.org/officeDocument/2006/relationships/notesSlide" Target="/ppt/notesSlides/notesSlide3.xml" Id="R56279c8c04884d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1c4b3a5e340e1" /><Relationship Type="http://schemas.openxmlformats.org/officeDocument/2006/relationships/notesSlide" Target="/ppt/notesSlides/notesSlide4.xml" Id="R2455ad359a1a45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0dfbfc1a64e63" /><Relationship Type="http://schemas.openxmlformats.org/officeDocument/2006/relationships/notesSlide" Target="/ppt/notesSlides/notesSlide5.xml" Id="R9c1823ea0fe947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39f97a1fc484a" /><Relationship Type="http://schemas.openxmlformats.org/officeDocument/2006/relationships/notesSlide" Target="/ppt/notesSlides/notesSlide6.xml" Id="R2333a9ab1f2043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16c38cb934ccf" /><Relationship Type="http://schemas.openxmlformats.org/officeDocument/2006/relationships/notesSlide" Target="/ppt/notesSlides/notesSlide7.xml" Id="Rbe7fc34ab87144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ff28609f04a01" /><Relationship Type="http://schemas.openxmlformats.org/officeDocument/2006/relationships/notesSlide" Target="/ppt/notesSlides/notesSlide8.xml" Id="Rf8c8299ae91e4e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34b140ce64d67" /><Relationship Type="http://schemas.openxmlformats.org/officeDocument/2006/relationships/notesSlide" Target="/ppt/notesSlides/notesSlide9.xml" Id="Ref8f972eac3644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4663abd4c4512" /><Relationship Type="http://schemas.openxmlformats.org/officeDocument/2006/relationships/notesSlide" Target="/ppt/notesSlides/notesSlide10.xml" Id="Ra0da7ac07dea44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7ed0ee8524141" /><Relationship Type="http://schemas.openxmlformats.org/officeDocument/2006/relationships/notesSlide" Target="/ppt/notesSlides/notesSlide11.xml" Id="Ra535302bc1df40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cbbfc8be9483e" /><Relationship Type="http://schemas.openxmlformats.org/officeDocument/2006/relationships/notesSlide" Target="/ppt/notesSlides/notesSlide12.xml" Id="R9730410cfaab4b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c3285885d45d3" /><Relationship Type="http://schemas.openxmlformats.org/officeDocument/2006/relationships/chart" Target="/ppt/slides/charts/chart1.xml" Id="R164d5abd4bb64006" /><Relationship Type="http://schemas.openxmlformats.org/officeDocument/2006/relationships/notesSlide" Target="/ppt/notesSlides/notesSlide13.xml" Id="R2837a07d7f2d4d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ba98400b84076" /><Relationship Type="http://schemas.openxmlformats.org/officeDocument/2006/relationships/notesSlide" Target="/ppt/notesSlides/notesSlide14.xml" Id="R13670161c31443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72eaf21d541b4" /><Relationship Type="http://schemas.openxmlformats.org/officeDocument/2006/relationships/notesSlide" Target="/ppt/notesSlides/notesSlide15.xml" Id="Rf742406633d847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3d5607ec149e4" /><Relationship Type="http://schemas.openxmlformats.org/officeDocument/2006/relationships/notesSlide" Target="/ppt/notesSlides/notesSlide16.xml" Id="Rfc0a540bab7f40d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单次通过率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2"/>
              <c:pt idx="0">
                <c:v>Bare</c:v>
              </c:pt>
              <c:pt idx="1">
                <c:v>Guarded</c:v>
              </c:pt>
            </c:strLit>
          </c:cat>
          <c:val>
            <c:numLit>
              <c:formatCode>General</c:formatCode>
              <c:ptCount val="2"/>
              <c:pt idx="0">
                <c:v>44.4</c:v>
              </c:pt>
              <c:pt idx="1">
                <c:v>100</c:v>
              </c:pt>
            </c:numLit>
          </c:val>
        </c:ser>
        <c:ser>
          <c:idx val="1"/>
          <c:order val="1"/>
          <c:tx>
            <c:v>连续 3 次全过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Bare</c:v>
              </c:pt>
              <c:pt idx="1">
                <c:v>Guarded</c:v>
              </c:pt>
            </c:strLit>
          </c:cat>
          <c:val>
            <c:numLit>
              <c:formatCode>General</c:formatCode>
              <c:ptCount val="2"/>
              <c:pt idx="0">
                <c:v>8.8</c:v>
              </c:pt>
              <c:pt idx="1">
                <c:v>100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3E86AC-2650-412E-81A7-7D745320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6E333-F97E-48DF-9119-02A3CCF1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SENZA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1E5F6-2728-44E4-8976-739F1F89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542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从 Agent 理论到</a:t>
            </a:r>
          </a:p>
          <a:p xmlns:a="http://schemas.openxmlformats.org/drawingml/2006/main">
            <a:pPr algn="l">
              <a:defRPr sz="34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Runtime / Senza 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29B41-CE8A-4107-A803-2BC9FB79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用《动手学 AI Agent》的理论坐标，理解 Core、Hook、Plugin 与可靠 Developer Agent。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7D8E2-8DB4-4E27-914D-F15C504B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26280-6517-4419-AE18-29ECD6F0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10 个可回放实验  ·  12 个固定 Hook  ·  1 套可组合 Plugin 协议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446A3-8B7B-4413-8FD6-1EF9E42D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学习版  |  2026-08-19  |  理论参考，非原书官方课程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872E2-29FF-479C-8FD5-2D78D609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8E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195DA-C4B9-48A8-9A7A-E2670D30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71675"/>
            <a:ext cx="327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CE2"/>
          </a:solidFill>
          <a:ln xmlns:a="http://schemas.openxmlformats.org/drawingml/2006/main" w="0">
            <a:solidFill>
              <a:srgbClr val="A9C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DAC81-F06A-496D-8A0A-1485D21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095375"/>
            <a:ext cx="190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CE2"/>
          </a:solidFill>
          <a:ln xmlns:a="http://schemas.openxmlformats.org/drawingml/2006/main" w="0">
            <a:solidFill>
              <a:srgbClr val="A9C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D1F6B-669E-446F-9EFB-8DEC9E20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62200"/>
            <a:ext cx="27241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DC626-1462-4D4E-80F4-1CD674AB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032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6B014-462C-44ED-BC96-520B9A90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289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FD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FD5FF"/>
                </a:solidFill>
                <a:latin typeface="Microsoft YaHei"/>
                <a:ea typeface="Microsoft YaHei"/>
                <a:cs typeface="Microsoft YaHei"/>
              </a:rPr>
              <a:t>Run · Turn · Tool ·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F11DA-CA48-40D9-9615-373F3B0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04775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A604F-EEA0-4912-8882-01B77A38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715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EB453-940B-4567-9FF4-C1BD32C8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输入与轨迹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7DFA6-46F9-47A2-89DF-D346599A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04775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2DB0D-75A9-4E8F-8020-E0A32CEB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715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FE842-2938-447C-9DBA-723547E1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287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感知与行动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FB382-1B1C-4300-98F5-DFFEE004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2910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4E113-BA7C-409B-A094-205CB5DD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529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GUARDRAILS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F3507-1F64-4473-92E1-AA508DC0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约束与验证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4FEEE-EF8E-45F4-A6DB-51291DC6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2910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B315B-8619-451C-8756-9194EBEC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529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KNOWLEDGE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A3E7B1-FDC7-4158-9B77-D17D90A5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1010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知识与记忆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4E0EEE-37B3-428A-B01B-06B73E13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149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SENZA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FE6F92-5DD9-41B9-BE98-8FA2D3F9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30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Python 装配面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D1203-2682-43F5-BDA9-8B3F874F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01 / 16</a:t>
            </a:r>
          </a:p>
        </p:txBody>
      </p:sp>
    </p:spTree>
    <p:extLst>
      <p:ext uri="{BB962C8B-B14F-4D97-AF65-F5344CB8AC3E}">
        <p14:creationId xmlns:p14="http://schemas.microsoft.com/office/powerpoint/2010/main" val="1783223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669BE2-5CE1-4808-9F3A-339E670E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51F8A-BCCE-4EF6-8705-A8A20FAF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01 · WHY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33169-AF31-4698-81CE-FD70B15A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一次模型调用，只会回答；Agent 要能持续行动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5047E-0F97-421B-BF6A-785F0FD8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35E56-4E3F-4A7E-B59B-6E1E337A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02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DA960-A650-4462-B7E4-5AB3EB35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495300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AF8EF-4D3A-4B5B-9CD1-3F6E621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98D0E-7000-4BFF-B792-7197126D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ONE SHOT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EC142-52AD-4E98-A8B9-D1B7D5EC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F2583-A249-4CC4-B6C2-44A64E7B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76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B1937-DE79-4DC9-A778-B48BA08E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57425"/>
            <a:ext cx="1352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D24BB-F8DE-406F-B48B-E28647B4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384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FE50C-6DCF-43F9-A995-9947AE75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56450-5C95-41D6-B704-008F33A3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文本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18AA3-3E30-4B2E-B6D1-1D0116AD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DDE83-FA83-48EB-B677-62CB9F9D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3905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没有环境观察</a:t>
            </a:r>
          </a:p>
          <a:p xmlns:a="http://schemas.openxmlformats.org/drawingml/2006/main">
            <a:pPr algn="l">
              <a:defRPr sz="15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没有动作执行</a:t>
            </a:r>
          </a:p>
          <a:p xmlns:a="http://schemas.openxmlformats.org/drawingml/2006/main">
            <a:pPr algn="l">
              <a:defRPr sz="15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没有失败后的下一轮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6ECB5-819B-4216-A832-8CA0A4F8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81150"/>
            <a:ext cx="609600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6E0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98D34-62A7-4727-82A6-0616AE61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9070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E0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B3BC4-F7C2-4005-9AB5-E1095008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288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AGENT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FDCFE-0E28-45A7-9040-06F24C6D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4F314-D5A8-424E-BA6D-672E6378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622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7FE90A-840D-496E-A5A8-D73E7E2B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43275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C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863A6-0EEE-4549-8709-77CF563B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528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16D58-4448-4F43-B48F-CE4ECDCE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33875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C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A8ACAB-99B4-425D-96D7-5200D93C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148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OBSERVATION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F37218-BC43-4F9B-9980-C6A7D43E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43275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C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A2A51-660D-4EFA-960F-CFD1034E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528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EC01B-236C-4F6A-B0E7-84AE5F7B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927846-A383-4287-BCF5-58B4E48B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100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8DA4B-31E6-4858-A95E-30C81CC4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00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80E6AB-5763-45FE-A6D5-4DE27328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0579A-7E79-4FDE-9136-095B6F23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7657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Harness 持有状态、循环与边界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734B67-B0A3-4D6A-8B12-DF2813B0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209DA3-E3D4-416A-B140-B54EB8AA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差异不在于 Prompt 更长，而在于 Harness 能把“决定 → 行动 → 观察”接成可靠闭环。</a:t>
            </a:r>
          </a:p>
        </p:txBody>
      </p:sp>
    </p:spTree>
    <p:extLst>
      <p:ext uri="{BB962C8B-B14F-4D97-AF65-F5344CB8AC3E}">
        <p14:creationId xmlns:p14="http://schemas.microsoft.com/office/powerpoint/2010/main" val="1066469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01CA8F-F52D-4574-9DEE-369449F0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3344B-740E-4749-ABC1-B5BBBF6F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01 · WHY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F3FC5-9726-4AE8-9F8A-0599EA2B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Agent = Model + Harness：可靠性来自模型之外的系统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4A55C-C465-4D5A-82BF-BD605EF0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279B3-B651-4592-B87B-EDA7B268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03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47076-8C8F-43D4-BC66-D0B175E7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书中的两种等式在 Runtime 里合流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7E4F3-D07A-4DCC-A5F2-1E215D6E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6E0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C7044-3AA3-4E7B-932B-3CCB3821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8B821-1D13-4967-BF03-0433C1E8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9D577-D175-4EB1-921F-E1F42FE1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A2690-9AEE-414A-91DE-6EF39FFE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57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=  能在环境中推进任务的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A1BD7-09B6-439D-A5EE-BEB9598D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095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12D28-7BA0-4F4E-A14B-B08E39E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E19C6-35BB-4881-A5F1-89A0F757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BF9B4-162B-4F73-9560-C10E1119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准备输入</a:t>
            </a:r>
          </a:p>
          <a:p xmlns:a="http://schemas.openxmlformats.org/drawingml/2006/main">
            <a:pPr algn="l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管理轨迹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A9D95-B9B4-4225-AD50-01A814D1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2095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67324-9506-4153-803B-C56A6E2B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C877E-8FE4-4258-BD40-CF1FC251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Tool Interface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15B18-2113-47C8-97C9-511156EC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100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把动作映射</a:t>
            </a:r>
          </a:p>
          <a:p xmlns:a="http://schemas.openxmlformats.org/drawingml/2006/main">
            <a:pPr algn="l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到环境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1F747-9E1B-4027-B2B5-B256F9FD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2095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8C338-B2B0-4616-B780-B42AC542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33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B0CE03-F69D-47BA-AF8C-C02C70C6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Constraints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AA9C3-6E64-42E7-97E6-BDFAD386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100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限制权限</a:t>
            </a:r>
          </a:p>
          <a:p xmlns:a="http://schemas.openxmlformats.org/drawingml/2006/main">
            <a:pPr algn="l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阻断风险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E8014-3866-48C9-A6B2-80673D9C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2095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0D2EF-E39E-4FCF-BDFB-E2522EC1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33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4A84D1-7EA0-47D3-B4EB-DD775DAE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14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52CE7-9513-4BD3-A58B-2A9418DB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100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  <a:p xmlns:a="http://schemas.openxmlformats.org/drawingml/2006/main">
            <a:pPr algn="l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判断完成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22F724-4C5B-4528-BB43-DA45B335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2095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1E8E24-DF49-45F4-8003-2512B348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33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D13424-AD2B-41E3-B8A6-7A4405FE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Correction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3376D-7B26-4887-814E-50DBBF08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100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根据错误</a:t>
            </a:r>
          </a:p>
          <a:p xmlns:a="http://schemas.openxmlformats.org/drawingml/2006/main">
            <a:pPr algn="l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进入下一轮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00992E-E67D-4DDC-9FD1-5B282832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43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BB5431-DD9E-40EF-AE1E-D3129783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Runtime 固化通用 Harness；Plugin 装入横切策略；Senza 负责面向任务的 Python 装配。</a:t>
            </a:r>
          </a:p>
        </p:txBody>
      </p:sp>
    </p:spTree>
    <p:extLst>
      <p:ext uri="{BB962C8B-B14F-4D97-AF65-F5344CB8AC3E}">
        <p14:creationId xmlns:p14="http://schemas.microsoft.com/office/powerpoint/2010/main" val="865286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579D0-548A-4B23-A864-DFF272F4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795EC-A5BC-4A6A-B1D0-ADB9CE30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02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F0EF4-5C6C-4B0E-930D-2CE07626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四层架构：稳定内核向下对接环境，向上承载业务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D520F-BECD-43A6-B1A4-EC47D816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70771-6938-4845-8D47-D3E2DFBD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04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F3610-CD39-4AC1-A11F-6656F708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复用上升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26AF4-35DC-4804-86B5-8FD2E8B3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B8537-6657-4D0B-BAF8-33A464D7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能力下沉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AFDFF-72D9-4ED1-92AD-4216F4A3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876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14589-C6C0-4BC7-A303-0F923C4D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6687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Developer Agent /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9E9A3-D3A6-4E5C-83A1-61170C14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049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任务目标、业务步骤、验收标准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FACD4-9886-4E3F-8798-E17C7C07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241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C5F61-21FE-4638-9F18-C700F31E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90800"/>
            <a:ext cx="876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DA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A0C8C-4193-42CD-9F16-06F0AD97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527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Senza · Python 装配面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4BD3A-4A14-403A-BB99-ADBA129E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08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Builder、装饰器、WorkflowEngine、领域入口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16DF3-DEC4-4171-A163-6FC2A44C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09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449EA-5232-4952-AAA4-7E69275E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76650"/>
            <a:ext cx="876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6A123-FAB3-4886-B3AE-AC8B1DCE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3857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Runtime · Agent Core + 12 Hooks + Plugin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EBC4C-C436-442E-BE52-CF744BAA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766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C9D5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D5E6"/>
                </a:solidFill>
                <a:latin typeface="Microsoft YaHei"/>
                <a:ea typeface="Microsoft YaHei"/>
                <a:cs typeface="Microsoft YaHei"/>
              </a:rPr>
              <a:t>唯一控制循环、状态、事件、组合协议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E9527-683B-4B32-B66F-FBE50A0C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95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94347A-1A53-4EBA-B7FA-DE4BF4E3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1EB68-FE9F-4898-976C-E5907836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244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Provider / Tool / Store / Knowledge / OS / MCP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C2F4E-B8BB-426C-A294-0684441C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625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模型与真实环境后端；由部署方提供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63DE9-3F68-471A-8113-2EABB5CC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590800"/>
            <a:ext cx="1066800" cy="18859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887DC-3BED-4E41-B215-B4700A48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143250"/>
            <a:ext cx="72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  <a:p xmlns:a="http://schemas.openxmlformats.org/drawingml/2006/main">
            <a:pPr algn="ctr">
              <a:defRPr sz="17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内核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A4168-963B-4884-803E-27D3BB54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626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Senza 不是另一套 Core；Environment 也不被假装成 Core 内置能力。</a:t>
            </a:r>
          </a:p>
        </p:txBody>
      </p:sp>
    </p:spTree>
    <p:extLst>
      <p:ext uri="{BB962C8B-B14F-4D97-AF65-F5344CB8AC3E}">
        <p14:creationId xmlns:p14="http://schemas.microsoft.com/office/powerpoint/2010/main" val="1771555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AF3AFD-CCA8-4329-BEBC-686A1C95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7D5B2-745A-4DA7-AC43-7DA02A7E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02 · AGENT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00936-A866-4107-A9D8-0820D18E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Agent Core：所有 Agent 共用一套 Run–Turn–Tool 语义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53898-6228-49B2-9A18-53125642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3BA98-9FDD-45D3-8325-E8838BF1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05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C1B5B-1D1D-4955-BD42-8D27DF52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85925"/>
            <a:ext cx="1600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5A37C-C724-476E-B98A-0049D1AC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F58BD-CBCE-4C6F-AC7F-AAFB51D5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初始化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317C2-368D-4DD1-AE30-FC42C7C2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193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639D4-CBFF-4631-85E5-94380413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85925"/>
            <a:ext cx="1600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64AEC-7C2A-4FF6-971E-C1992E8A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669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TURN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B0BAA-E2AB-41F8-A643-22FE86F6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28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准备上下文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C515B-C754-4013-8F18-DFB7FAD8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193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CD183-AC6C-4C02-B5DE-455C54CF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85925"/>
            <a:ext cx="1600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D6FC3-F9EA-409D-8B3F-2F1A241A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0B15F-58F0-4FA6-BFDD-114956DC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D5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9D5E6"/>
                </a:solidFill>
                <a:latin typeface="Microsoft YaHei"/>
                <a:ea typeface="Microsoft YaHei"/>
                <a:cs typeface="Microsoft YaHei"/>
              </a:rPr>
              <a:t>模型决定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6CBE4-B330-446F-BD48-720EC2D6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193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4A597-9B37-4BD6-94E4-B8864052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85925"/>
            <a:ext cx="1600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AEDCA-E36D-45F0-9BB4-F9742F57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0B83A-09AE-4607-AB8C-4AE1F33B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执行动作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26260-09F8-423A-BC32-2C5A35B8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F85B2A-2EDE-423E-A00C-9FDF91C1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85925"/>
            <a:ext cx="1600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E6445-2745-4B6D-8438-1A36D2EF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7CEF2-644F-441F-B3B9-4A023488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28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记录观察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D7936-28E2-47EF-8298-9C983430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193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B01BC9-C1D5-4D91-9DB7-C72782F0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85925"/>
            <a:ext cx="1600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A2AB92-68C4-49DC-A1F3-6693AA92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669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STOP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2F16D1-3302-442C-B693-D114F1A6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28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收敛/校验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77180-727B-4793-9F1C-C3449FAE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54292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DFDCE7-5EF0-4139-91B6-68A16DD8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CORE 负责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E3B8E2-438B-4352-946F-F838C086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95FF0D-4269-4177-9C96-FC24D1CF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统一状态与事件时间线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6D5558-A374-4D55-8B22-6895239F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F30613-A583-48FA-A4C8-F69AEA49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迭代上限、停止与最终答案校验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37189B-F884-44C9-AF58-DA8C2258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74EFC3-4863-4AD5-B567-A705E67C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Tool 调用、结果回填与下一轮准备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6723CF-49F6-46D6-B9DE-1479BA58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7146ED-44ED-4B18-8FC6-86D6332C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5777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失败清理与错误向调用方传播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E2ACC8-3259-4E30-8B98-8FEB997F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56007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50B3AC-11E3-4FA6-A6A1-ADB08BD6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CORE 不负责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A5BC8C-999F-4B65-86FE-CADBD2E9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6B2"/>
          </a:solidFill>
          <a:ln xmlns:a="http://schemas.openxmlformats.org/drawingml/2006/main" w="9525">
            <a:solidFill>
              <a:srgbClr val="9AA6B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F3B2FC-72E5-4710-8120-AAD8950B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464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某个数据库的 SQL 规则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4A132D-A100-4227-AF3E-56FC3C0A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91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6B2"/>
          </a:solidFill>
          <a:ln xmlns:a="http://schemas.openxmlformats.org/drawingml/2006/main" w="9525">
            <a:solidFill>
              <a:srgbClr val="9AA6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F78EFA-B200-42F9-9A42-DDA79071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14825"/>
            <a:ext cx="464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某个团队的记忆写入政策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8D3E8C-093F-4C8B-ACC3-4E0B7315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6B2"/>
          </a:solidFill>
          <a:ln xmlns:a="http://schemas.openxmlformats.org/drawingml/2006/main" w="9525">
            <a:solidFill>
              <a:srgbClr val="9AA6B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FDADCF-E14A-444F-8E56-2A591C5A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464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某个业务的审批流程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BE6991-FB6C-4486-B3E0-02969B2C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33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6B2"/>
          </a:solidFill>
          <a:ln xmlns:a="http://schemas.openxmlformats.org/drawingml/2006/main" w="9525">
            <a:solidFill>
              <a:srgbClr val="9AA6B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7CDE8B-B590-4CF0-8042-2514CBDD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57775"/>
            <a:ext cx="464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某个 Provider / Store 的部署实现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50EF40-9B5B-42AA-96A6-8F01750A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810250"/>
            <a:ext cx="5848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7141F7-88DA-4F78-8BAB-F11B309D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895975"/>
            <a:ext cx="546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业务能力不复制循环，只挂到清晰边界。</a:t>
            </a:r>
          </a:p>
        </p:txBody>
      </p:sp>
    </p:spTree>
    <p:extLst>
      <p:ext uri="{BB962C8B-B14F-4D97-AF65-F5344CB8AC3E}">
        <p14:creationId xmlns:p14="http://schemas.microsoft.com/office/powerpoint/2010/main" val="1858346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E38D97-CA88-448D-856A-121C3864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A7C86-B6C4-4F0E-8159-54CC9787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03 · HOOKS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82697-EC8E-4C61-86ED-8AF10548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12 个固定 Hook：治理逻辑进入 Core 的标准接口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5AA6D-6938-46C7-AC39-18ED7973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DE996-7219-477C-85F1-2607EF4C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06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2D1D3-CB1A-4E6A-8934-E990ADC2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按作用域分组，不代表一条严格的单线调用顺序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73BDC-45E8-4069-8568-027113DF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RUN / TURN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A3713-82EB-429E-93DD-3F18A6B5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193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92CC5-A444-4D73-ACF6-13BDF71A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95450"/>
            <a:ext cx="281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2A3A9-1DB4-4D06-987B-78A6FA4F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954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before_run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45217-D219-4D5B-BAF4-A2C2857B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95450"/>
            <a:ext cx="281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8838E-72CE-49F6-BD3E-1F37B53A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954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before_turn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C7CD0-D4A7-45F4-B35B-AA595902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281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D6BC8-5DCD-4411-BCC5-EE2AA28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954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after_turn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1A84F-39AA-4091-8E58-DD52A873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1A589-7027-4443-A3BA-DB0846CF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03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643BC-A69F-4E28-B411-06D49885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76525"/>
            <a:ext cx="281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E32DE-0375-408A-949A-9529ECBB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765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before_provider_request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F6FAA-1CB7-401F-A041-C6C48750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76525"/>
            <a:ext cx="281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7716B-6AE1-41C7-A1E1-98BD3375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765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after_provider_response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49B24-15E3-47BF-915C-04602837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281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AECD0-F2F5-495A-9809-9131D11F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transform_context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36381-8595-497C-B6A3-08500F37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39A96-A9EE-4ED1-992A-2678116F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814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566C65-AFD1-49F9-AD7F-18FF7CB8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57600"/>
            <a:ext cx="281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E571C-CB6D-495E-A23E-19096FBB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576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before_tool_call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EC2769-B8A9-46F5-B7B5-C6174CBD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57600"/>
            <a:ext cx="281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E9958B-BFCE-49A6-915D-DAC74A1C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576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after_tool_call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A993C-35B3-44C3-9EF6-7130D16E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57600"/>
            <a:ext cx="281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9048A7-5105-4387-AED5-DDB8179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576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prepare_next_turn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7E6701-6571-4669-91D3-EACF8DF2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CONTROL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3E9624-309B-46C2-AC62-9FDF0A94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625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6800"/>
          </a:solidFill>
          <a:ln xmlns:a="http://schemas.openxmlformats.org/drawingml/2006/main" w="0">
            <a:solidFill>
              <a:srgbClr val="A96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F95131-138B-4DEF-87BB-4D12C61E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38675"/>
            <a:ext cx="281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E4C37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A7F003-6511-48C6-B714-57F001BA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387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80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96800"/>
                </a:solidFill>
                <a:latin typeface="Cascadia Mono"/>
                <a:ea typeface="Cascadia Mono"/>
                <a:cs typeface="Cascadia Mono"/>
              </a:rPr>
              <a:t>should_stop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8B7EDC-84AE-4E51-BEE9-8CA04372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38675"/>
            <a:ext cx="281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E4C37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9F7CAD-CED0-48CB-B433-654693A5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387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80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96800"/>
                </a:solidFill>
                <a:latin typeface="Cascadia Mono"/>
                <a:ea typeface="Cascadia Mono"/>
                <a:cs typeface="Cascadia Mono"/>
              </a:rPr>
              <a:t>final_answer_validator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1EE0DE-3876-4BB4-AC7F-4253E014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38675"/>
            <a:ext cx="281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E4C37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F1F887-13EB-4096-95CB-5295A640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387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80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96800"/>
                </a:solidFill>
                <a:latin typeface="Cascadia Mono"/>
                <a:ea typeface="Cascadia Mono"/>
                <a:cs typeface="Cascadia Mono"/>
              </a:rPr>
              <a:t>before_compact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992A9B-5358-4E3B-B3C9-F04FA2F2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E215AF-0BB3-42BA-8EE7-26060E95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Hook 位置由 Core 预先定义；Plugin 只能在这些生命周期边界注册实现，不能任意插入源码行。</a:t>
            </a:r>
          </a:p>
        </p:txBody>
      </p:sp>
    </p:spTree>
    <p:extLst>
      <p:ext uri="{BB962C8B-B14F-4D97-AF65-F5344CB8AC3E}">
        <p14:creationId xmlns:p14="http://schemas.microsoft.com/office/powerpoint/2010/main" val="1456754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53638F-A6CC-49B0-8712-E782A0CB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BE044-1F69-4B44-B486-75CC4F77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03 · PLUGINS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FC408-1473-4D64-B1DB-8C6030AD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Plugin 定义“能力包”，不定义主循环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E31BD-C6E3-4929-8790-9C3367F0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70846-292F-4F6D-B72A-8E328F00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07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40EE7-F9E2-4160-BACD-53C78556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一个 Plugin = 对 Core 的一组声明式贡献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9C479-BE19-4DB0-806B-786F814D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476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CDC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3C63F-341D-4D74-9663-74C4F573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D9272-BD36-42B3-BE17-4A0EC6CE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执行能力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6D37A-3650-44F2-B92A-FBA23EA5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2476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CDC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1601A-9F8A-48EF-A83B-A22FEF54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431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HOOKS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7576B-B2DE-475A-840D-EECA74A7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574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生命周期策略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13C07-9E9F-4338-8C21-2A9D141E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2476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DC97C-260D-427F-AF13-392E5D64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88198-2E4D-4EBD-B730-ABDB29D7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渐进披露内容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CFA3D-8BD0-4493-BF82-5685376F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2476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F693C-9F73-4C1C-AEDE-EEB5836B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71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TEMPLATES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9236F-8C47-4C5E-A96A-EACA723C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861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Prompt 模板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15FEB-D0FB-4280-BF8A-C303FC8F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3276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0"/>
          </a:solidFill>
          <a:ln xmlns:a="http://schemas.openxmlformats.org/drawingml/2006/main" w="9525">
            <a:solidFill>
              <a:srgbClr val="E7F6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C2343-7F37-46E9-940C-E6A97D2A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Python create_plugin(): tools + hooks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E4B0A-7B3A-4E7D-BD1A-3CE2FCBF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409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5B5AE-7823-4FFA-B957-F7D9B15E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Rust Plugin: tools + hooks + skills + templates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5D6C4-A70A-4680-A524-E6101C4C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6007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79B741-7188-473B-AB88-1F9718C9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192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SENZA · PYTHON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E88080-F8AB-4D9D-B49B-0CDE0F70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9720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EF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8EEF7"/>
                </a:solidFill>
                <a:latin typeface="Cascadia Mono"/>
                <a:ea typeface="Cascadia Mono"/>
                <a:cs typeface="Cascadia Mono"/>
              </a:rPr>
              <a:t>plugin = senza.create_plugin(</a:t>
            </a:r>
          </a:p>
          <a:p xmlns:a="http://schemas.openxmlformats.org/drawingml/2006/main">
            <a:pPr algn="l">
              <a:defRPr sz="1350" b="0">
                <a:solidFill>
                  <a:srgbClr val="E8EEF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8EEF7"/>
                </a:solidFill>
                <a:latin typeface="Cascadia Mono"/>
                <a:ea typeface="Cascadia Mono"/>
                <a:cs typeface="Cascadia Mono"/>
              </a:rPr>
              <a:t>    name="db-safety",</a:t>
            </a:r>
          </a:p>
          <a:p xmlns:a="http://schemas.openxmlformats.org/drawingml/2006/main">
            <a:pPr algn="l">
              <a:defRPr sz="1350" b="0">
                <a:solidFill>
                  <a:srgbClr val="E8EEF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8EEF7"/>
                </a:solidFill>
                <a:latin typeface="Cascadia Mono"/>
                <a:ea typeface="Cascadia Mono"/>
                <a:cs typeface="Cascadia Mono"/>
              </a:rPr>
              <a:t>    tools=[query_tool],</a:t>
            </a:r>
          </a:p>
          <a:p xmlns:a="http://schemas.openxmlformats.org/drawingml/2006/main">
            <a:pPr algn="l">
              <a:defRPr sz="1350" b="0">
                <a:solidFill>
                  <a:srgbClr val="E8EEF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8EEF7"/>
                </a:solidFill>
                <a:latin typeface="Cascadia Mono"/>
                <a:ea typeface="Cascadia Mono"/>
                <a:cs typeface="Cascadia Mono"/>
              </a:rPr>
              <a:t>    hooks=[before_tool_guard],</a:t>
            </a:r>
          </a:p>
          <a:p xmlns:a="http://schemas.openxmlformats.org/drawingml/2006/main">
            <a:pPr algn="l">
              <a:defRPr sz="1350" b="0">
                <a:solidFill>
                  <a:srgbClr val="E8EEF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8EEF7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8EEF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8EEF7"/>
                </a:solidFill>
                <a:latin typeface="Cascadia Mono"/>
                <a:ea typeface="Cascadia Mono"/>
                <a:cs typeface="Cascadia Mono"/>
              </a:rPr>
              <a:t>agent = builder.plugin(plugin).build()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F0F92-D8D2-431D-841B-AA7DC120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57"/>
          </a:solidFill>
          <a:ln xmlns:a="http://schemas.openxmlformats.org/drawingml/2006/main" w="0">
            <a:solidFill>
              <a:srgbClr val="3040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D0D537-FFE4-4903-A56F-7CC5B5E0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497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6E9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AFC6E9"/>
                </a:solidFill>
                <a:latin typeface="Cascadia Mono"/>
                <a:ea typeface="Cascadia Mono"/>
                <a:cs typeface="Cascadia Mono"/>
              </a:rPr>
              <a:t>也可安装到某个 Workflow step：</a:t>
            </a:r>
          </a:p>
          <a:p xmlns:a="http://schemas.openxmlformats.org/drawingml/2006/main">
            <a:pPr algn="l">
              <a:defRPr sz="1050" b="0">
                <a:solidFill>
                  <a:srgbClr val="AFC6E9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AFC6E9"/>
                </a:solidFill>
                <a:latin typeface="Cascadia Mono"/>
                <a:ea typeface="Cascadia Mono"/>
                <a:cs typeface="Cascadia Mono"/>
              </a:rPr>
              <a:t>engine.with_step_plugin("query", plugin)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99C8DC-E303-4ED3-8583-381B9A14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构建期装配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D656C8-D552-4F45-A813-A2BB3E79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864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.plugin()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FD155-013C-4F8E-857C-8DE38112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768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145D2A-1002-4A0B-AF6A-711C55B9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864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收集贡献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D4A143-EAA6-4B47-8F5A-3B17918A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768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3FFAB0-C811-48FB-91A9-98AD401C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864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校验冲突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03F9C5-7396-4DCF-8CCA-BA9EFA78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768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C4815C-2108-4EF7-8A96-F59E0683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86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AgentHarness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B5FFBC-FAE1-4F5C-8CA7-D8DAC6B0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45782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40997D-69AA-40CA-B7E6-86A7D390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4959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非热插拔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4AAE55-2ECB-496E-B447-F98981CF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重名 Tool 在 build 阶段失败，不会静默覆盖。</a:t>
            </a:r>
          </a:p>
        </p:txBody>
      </p:sp>
    </p:spTree>
    <p:extLst>
      <p:ext uri="{BB962C8B-B14F-4D97-AF65-F5344CB8AC3E}">
        <p14:creationId xmlns:p14="http://schemas.microsoft.com/office/powerpoint/2010/main" val="9523210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781791-C149-4A7B-8978-72B5A6CA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D4E24-8A96-404D-8152-FB533ECE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03 · 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D33B4-8D9F-426F-AE63-C869735C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Hook 让治理进入 Core，而且组合规则是确定的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E529B-3537-42D9-9A54-796CC2A2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960C6-D70A-4C5C-BB00-BD356296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08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D8D53-E757-419E-8CC5-0DA1ED4D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19125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966A8-3867-4256-8527-24C3E5BD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D67E0-99AF-4109-AA30-AB69A69E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DB-SAFETY 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50150-00D2-4CF5-AB1F-A7C5B6E0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51852-3282-49E7-8C68-0B4ECA65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run_query(sql)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40C3B-9DDB-4857-BC58-1C6905A0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00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19878-9751-42F4-A2C8-A55B109F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33600"/>
            <a:ext cx="19621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DA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77A51-8E27-4B9B-8508-A8EE6A8D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336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before_tool_call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E2371-3203-4B42-B2AB-A272963A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normalize</a:t>
            </a:r>
          </a:p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022DE-665A-4911-8982-5701DBFF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00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1195A-08C7-46F1-800F-EDB2EAA1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76450"/>
            <a:ext cx="10096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6F0"/>
          </a:solidFill>
          <a:ln xmlns:a="http://schemas.openxmlformats.org/drawingml/2006/main" w="9525">
            <a:solidFill>
              <a:srgbClr val="E7F6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B2C1F-50F7-4683-8103-6F0F4706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717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ALLOW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07EB8-0972-4DA0-8A13-035FE07F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43175"/>
            <a:ext cx="10096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47488A-DE6B-44B2-92A9-C618E045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3842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MODIFY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F088C-CB03-4640-A940-B953B7BA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10096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DEC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7CFC8-C787-43DA-B034-FA54D22D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63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63B45"/>
                </a:solidFill>
                <a:latin typeface="Microsoft YaHei"/>
                <a:ea typeface="Microsoft YaHei"/>
                <a:cs typeface="Microsoft YaHei"/>
              </a:rPr>
              <a:t>DENY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CBB60-C260-4652-A45C-838503FB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550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53077-732B-41D7-8C9F-3C692A9A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3B4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B63B45"/>
                </a:solidFill>
                <a:latin typeface="Cascadia Mono"/>
                <a:ea typeface="Cascadia Mono"/>
                <a:cs typeface="Cascadia Mono"/>
              </a:rPr>
              <a:t>DROP TABLE users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F4D5B-2678-42D9-9A87-4C8F8152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719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3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63B45"/>
                </a:solidFill>
                <a:latin typeface="Microsoft YaHei"/>
                <a:ea typeface="Microsoft YaHei"/>
                <a:cs typeface="Microsoft YaHei"/>
              </a:rPr>
              <a:t>→ 在 executor 前短路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845623-A0BC-4C22-B8D5-6A09B499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SELECT * FROM users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225B99-6F31-4272-950E-05845670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910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 参数改写为 LIMIT 100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5A4C98-6667-41A8-A0D1-1581EAA6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与策略无关的 Tool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F0AFE6-D155-4466-B09B-DF285865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101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→ 继续执行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947B7-61AC-44C6-BCB1-F1E2C05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不同 Hook，不同组合语义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44E45A-BAB5-4228-9B0A-468A01F6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14550"/>
            <a:ext cx="4724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CEA630-9D8A-46F2-B958-92CA1E25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288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before_tool_call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52E007-D69B-4367-B942-1ADA82CB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28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allow / modify / deny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8E3728-950D-403C-BA69-5762B430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05125"/>
            <a:ext cx="4724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9A30C8-E5E1-437D-88D5-F0BA02FB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194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transform_context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2703A4-BCEA-47A1-BBE3-BDE1062C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194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上一个输出传给下一个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AC436B-6F25-48B0-AFA7-FC9A41AA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4724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81AA0A-9FDF-49BB-81E1-D627493D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should_stop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0D8F2E-9E82-4838-BF80-F0899FB1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多个观察者聚合判断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37A56E-5D83-4330-BCF0-DB878A88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86275"/>
            <a:ext cx="4724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619DEA-3B73-453D-9102-572BED0A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0057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final_answer_validator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E0780E-ECE7-4775-8DA8-E331851D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005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accept / reject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9539F8-7724-4118-9DA4-11BA926A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86400"/>
            <a:ext cx="4724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1FB7DD-1361-4F1D-BF5D-60CB32BC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292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轻松加能力 ≠ 随意组合。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先看 Hook 的组合契约，再看 Plugin 的前置依赖。</a:t>
            </a:r>
          </a:p>
        </p:txBody>
      </p:sp>
    </p:spTree>
    <p:extLst>
      <p:ext uri="{BB962C8B-B14F-4D97-AF65-F5344CB8AC3E}">
        <p14:creationId xmlns:p14="http://schemas.microsoft.com/office/powerpoint/2010/main" val="8016887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98C9AC-C8A4-492F-808C-ADC022A9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54185-4886-4684-9034-C4BFB3B2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04 ·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F2898-75BB-4BBA-A960-7C2D0F7A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Context 是被设计的运行状态，不是无限增长的聊天记录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3028D-74C8-4451-8613-57055306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C3C21-17D5-421B-872F-448199CE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09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A4F62-E055-48AF-A4ED-5E022A5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从稳定前缀到动态轨迹，变化频率逐层提高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B7D6E-2844-4648-9CA4-477685D6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524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91DB7-84E5-45E4-BEBB-272C74AA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14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STABLE PREFIX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A280E-4852-4357-9501-DEA1063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1452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9D5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9D5E6"/>
                </a:solidFill>
                <a:latin typeface="Microsoft YaHei"/>
                <a:ea typeface="Microsoft YaHei"/>
                <a:cs typeface="Microsoft YaHei"/>
              </a:rPr>
              <a:t>System / Tool schema / Provider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98C44-8494-42E1-92B5-EB93CEB6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6953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A57F5-D1ED-4E9C-B550-974EC141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050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87364-9FFA-4665-AE4B-89313AFD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050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元数据常驻，正文按需披露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F8D04-7106-4696-B0AC-1E069FFE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638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1DC90-7F52-4BEC-A287-F01CADB4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956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STATUS PANEL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AD700-8349-4701-A6DA-C1BD508F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956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目标、预算、进度与当前约束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55CA7-638B-4DDD-97DD-9F34B997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62350"/>
            <a:ext cx="5810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F2F6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1807A-FF4A-44A6-9D80-8B32F744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86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TRAJECTORY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C3F9B-EF3B-46FE-95FF-B77703BB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86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消息、Tool call、Observation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CACB7-4ECC-4978-B148-D209F287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52900"/>
            <a:ext cx="5238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9BE41E-50B4-4ABD-B562-9088DDF5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76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COMPACTION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A7CA0-EAE6-40DE-9CEF-039C3FA6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767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摘要旧轨迹，保留决定性证据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8456A-B21D-46C5-B527-62787958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053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↓ 动态性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9707C-3EE4-4706-9423-6C72ED77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9337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DA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01ED71-4998-4B14-BD4A-7E6F366F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渐进披露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9AB00-9999-417A-A9E5-5F9E184A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先放 Skill 索引</a:t>
            </a:r>
          </a:p>
          <a:p xmlns:a="http://schemas.openxmlformats.org/drawingml/2006/main">
            <a:pPr algn="ctr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需要时再读正文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B41875-1D59-4E9C-8EB9-AF4E584F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9337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458D1-EEFB-4A93-949A-1B547420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缓存友好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19A13-392A-482E-A4CF-30066959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671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稳定内容靠前</a:t>
            </a:r>
          </a:p>
          <a:p xmlns:a="http://schemas.openxmlformats.org/drawingml/2006/main">
            <a:pPr algn="ctr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动态状态靠后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D0D5C3-9463-4776-8B43-8EACCB94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9650"/>
            <a:ext cx="2933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9421B9-408B-4DC3-834F-42AF32AA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00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680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A96800"/>
                </a:solidFill>
                <a:latin typeface="Cascadia Mono"/>
                <a:ea typeface="Cascadia Mono"/>
                <a:cs typeface="Cascadia Mono"/>
              </a:rPr>
              <a:t>manual compact()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E36316-575D-495C-913C-162CB8D5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244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也可由阈值策略自动触发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32E6DA-E29F-42D3-B15F-D4B5F19F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设计目标：更少无关 Token，更完整的决定性上下文。</a:t>
            </a:r>
          </a:p>
        </p:txBody>
      </p:sp>
    </p:spTree>
    <p:extLst>
      <p:ext uri="{BB962C8B-B14F-4D97-AF65-F5344CB8AC3E}">
        <p14:creationId xmlns:p14="http://schemas.microsoft.com/office/powerpoint/2010/main" val="627835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939978-CB51-44AC-9649-E3EE5769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8DD9F-1B65-4740-A8B6-305A25D8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04 · STORE /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272D1-92D1-48E3-AFD0-5295AE83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“Store” 不是一个全局大桶，而是一类后端接口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B4084-A6E5-444C-AAE0-0A107772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9254C-914D-45AC-8F7F-3C842AA1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10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CED61-9A62-4D43-8689-E5252764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同样叫 Store / Repo / Index，保存的对象和一致性边界并不相同。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6EACF-F9B7-48AF-9EB1-A9061C5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0955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3FE8C-1209-4457-8C4A-4865805D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2BB26-9AE5-4966-86D8-12466490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52600"/>
            <a:ext cx="30289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6E467-2FB1-4A8E-9F6B-6763A9DF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859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74144-D0F3-4A2C-B825-F8387012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52600"/>
            <a:ext cx="25527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77AEB-D9BB-447A-9234-66A0C84D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859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谁在使用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02959-2FDE-40FC-9E1D-7A0EEEC6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714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9EC84-7017-4A2F-8ECF-459DE2D4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v1 真实状态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F3225-2B3E-4E7F-8238-55E8395D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095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A40F5-9B5A-43A3-9489-71C4056F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Workflow TaskStore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F0AD5-DEAC-43E3-B7C5-8ED1CEB6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669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C0950-8369-44E1-A81D-A6B1B453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90775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任务状态、step 历史、恢复点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58B99-BE90-47D8-8FF7-23E1CE1C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25527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64F81-5B5F-4065-B097-C74C42FC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90775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Workflow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9B40E-52C7-4EEA-8DBF-4EF5266E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7147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72482-8C5D-4E03-BA67-E0B2C537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9077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可替换后端；按显式 step 恢复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3A1EF-7DD7-40DB-877E-862F89BA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2095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77510-8879-4491-8028-484DC8E6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337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Knowledge Source / Index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44592C-C63C-4C74-ACC6-EB745470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0990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BC760C-445E-4EAD-B095-EE579A4E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33725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文档、chunk、BM25 索引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45004A-68B8-49F8-A5EE-2956EF84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25527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7B285F-EEF3-4523-A1F4-380B32F6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33725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knowledge_search / read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07731-556C-418D-8157-029B58FB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7147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80A36B-EC65-4D62-A862-9009EC54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3372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本地文本检索可端到端运行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E3ECD4-6CA1-4CC9-8A64-5451F6D2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2095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A1DE13-3049-4C97-9113-FD1C2825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766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MemoryStore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DE55DA-555A-4459-AE2C-225F6E0F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528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6392C7-BC4E-4F51-996B-67C9DFB2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76675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用户事实与 mutation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F0D57A-DF74-42F6-953B-931B2F00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52850"/>
            <a:ext cx="25527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4449B3-FA89-4509-82A5-5617AA68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76675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memory write / forget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60CE82-5B74-41FD-96D2-31D333A8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52850"/>
            <a:ext cx="37147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724957-EA73-446B-91F5-705777C8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Senza demo = 进程内 Mutex&lt;Vec&gt;，不持久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114956-AC4C-4974-B6D5-9E28507F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2095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A198D7-8212-468C-A104-812E87C5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Recall Repo / Index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62C466-F9E9-48A9-B95B-6A94EADA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9580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46975D-8C42-4E12-AE39-ECDBE317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19625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历史 session 的投影与索引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2D0379-B0E1-4950-B7AA-2CF00AA1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95800"/>
            <a:ext cx="25527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A111F4-872E-4E0A-B690-1FC75D80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619625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session recall tools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385A1C-C5A1-4A01-95AE-EBF95FE9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95800"/>
            <a:ext cx="37147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F63ACA-F92C-4746-B2A8-7D2239A5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9625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契约已定义；Python 缺 population / projector 公共链路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79E628-E91F-4608-BD32-B5D3E5BF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E7C77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E69C3D-9F87-4D5A-8240-038EC7A6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关键边界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3D802B-0B51-4C6C-AF59-9260999F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67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memory_write 成功 ≠ 写入 local_source ≠ 能被 knowledge_search / session recall 自动检索。</a:t>
            </a:r>
          </a:p>
        </p:txBody>
      </p:sp>
    </p:spTree>
    <p:extLst>
      <p:ext uri="{BB962C8B-B14F-4D97-AF65-F5344CB8AC3E}">
        <p14:creationId xmlns:p14="http://schemas.microsoft.com/office/powerpoint/2010/main" val="12953980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1BAE80-7318-4A36-A344-65229AA6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8D265-51EA-4D39-B877-2DCB89B0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05 · DEVELOPER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FD265-DF32-44E6-B1AD-7E9CE377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Developer Agent 的闭环：先约束动作，再验证结果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17F0D-C66C-4CEB-B617-B5732E54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F5C2D-5CA0-4221-9FF8-383AD6EA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11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8880E-29A7-41AF-8F66-6C5A540B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DA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2938C-5943-403F-86A1-4AA6076D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907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64CB2-7600-43CB-B4FC-75D03B5C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24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INSPECT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724F1-C50A-40E1-AF44-C3C10BD0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669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53009-A4B6-4F12-9D3E-D663491B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288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DA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96649-20C7-4135-9174-DEA6A0FB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907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277F5-5832-4B2A-9B83-26EC380F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24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81B29-046A-445F-ABC6-1DA303D7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669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B49FA-AE05-4AA0-96C9-FAE5BDF8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288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D922E-F8D1-4EB1-84EC-DD4D9869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907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7BDE6-399E-46C8-90F9-3A9AD394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EDIT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9857C-E915-418D-8A0E-E44CDCF1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69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E79D6-AAA5-44B2-8E32-56381B62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288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DA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F7405-CF66-45F6-A588-4A17EA99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907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43D51-73A5-43E4-AA97-BBA1E6B9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24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E79BF-4F27-4B39-AFBA-F040E362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669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BB60C-053D-417F-BFCC-EA7B5BD0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288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DA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6AEBA-E819-40C7-9CAD-349E3BBC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907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6001B5-B57E-49DB-8607-78B3B096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7E0168-8DF9-4494-9F2B-8828C508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7639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D985E-776E-46A6-B957-BB0E3463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动作前 Guardrail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A6D9D-0735-424D-A39B-A9969F92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9567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工作目录 · 路径保护 · 规则审批 · before_tool_call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55F0A1-184F-4CF5-8959-2FB886AD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14775"/>
            <a:ext cx="716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5E9A82-9A60-4E78-91E6-5CFCA73B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动作后 Verifier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3FDB5C-5463-40A9-B139-5FF90755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48125"/>
            <a:ext cx="521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单测 · lint · 结构断言 · 证据记录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4DD8E3-A91C-49E6-94B8-AC57F8C7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81150"/>
            <a:ext cx="340995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3B4DF-6A52-4C15-945C-8E8FC08D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9070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0"/>
          </a:solidFill>
          <a:ln xmlns:a="http://schemas.openxmlformats.org/drawingml/2006/main" w="9525">
            <a:solidFill>
              <a:srgbClr val="E7F6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4D1C9-4417-4670-A8CE-13AB3F1C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28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LAB 05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784621-111F-4614-B790-CEACE719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24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3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63B45"/>
                </a:solidFill>
                <a:latin typeface="Microsoft YaHei"/>
                <a:ea typeface="Microsoft YaHei"/>
                <a:cs typeface="Microsoft YaHei"/>
              </a:rPr>
              <a:t>失败测试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D22428-7246-4903-B687-961DBFD0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24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16B5E6-9020-4047-A554-62BE52AF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241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一行修复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E5F750-CE27-49F2-B121-3AA6FA10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57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测试通过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B7F3E9-69AB-4218-B8D8-8F708E38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57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ADBA79-D52A-4435-92FF-FEB6F428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8575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输出证据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5DFDD4-68A9-4DBA-95C7-B108E1D1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CEEF31-0CEB-4707-AF4A-CF3B9D88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71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3B4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B63B45"/>
                </a:solidFill>
                <a:latin typeface="Cascadia Mono"/>
                <a:ea typeface="Cascadia Mono"/>
                <a:cs typeface="Cascadia Mono"/>
              </a:rPr>
              <a:t>rm -rf /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924878-40C3-42EE-8606-4B4F492C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718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63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63B45"/>
                </a:solidFill>
                <a:latin typeface="Microsoft YaHei"/>
                <a:ea typeface="Microsoft YaHei"/>
                <a:cs typeface="Microsoft YaHei"/>
              </a:rPr>
              <a:t>只评估并拒绝，未执行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7F0536-BC2A-4032-83DD-715435E6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087CDA-996E-4BE6-AF4E-03E00BF5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边界提醒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2630AB-2BCB-4F72-8D5E-08FCFB65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339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create_os_env() 约束工作目录，但不等同于强 OS 沙箱；高风险动作仍需要系统级隔离与审批。</a:t>
            </a:r>
          </a:p>
        </p:txBody>
      </p:sp>
    </p:spTree>
    <p:extLst>
      <p:ext uri="{BB962C8B-B14F-4D97-AF65-F5344CB8AC3E}">
        <p14:creationId xmlns:p14="http://schemas.microsoft.com/office/powerpoint/2010/main" val="13998117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8859C3-7767-4B0E-86FD-0C256746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1902A-5591-4D11-B8F6-A7EF6CFC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05 ·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ED771-28A9-4091-92FD-30CC0BB4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Agent 与 Workflow：选择权放在哪里，决定系统形态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6E289-0EFF-4065-A06D-FF5315CA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C33F4-F6C4-45FA-8344-8C43D81B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A6720-BA35-4AE4-94B8-E420010A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DA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42368-BB59-4C3B-B624-2D4778E3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35093-93DE-4EFB-8468-78B44B57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模型选择下一步路径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756B0-00E6-4401-94F1-B8CD7F04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7C78B-26CD-4B9D-A8C5-6E8165CA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适合开放探索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C0532-E2B4-405A-897B-E6342893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0CC11-906C-4AE4-82B8-91CC92E9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路径随 Observation 改变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96193-6ABF-468A-8249-FBDB93FD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88A50-C0A3-4206-B05E-09188FD4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依赖停止、预算与 Guardrail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B9AFC-F4FF-4042-8679-AA778922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56769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79FC5-BD50-4305-89E4-EB20AC26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AA477-40DE-4F4E-A63A-76D0E34B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开发者定义 step / edge / judge / executor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56A6F-D81E-42FF-AB63-CDFC3DE7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675"/>
          </a:solidFill>
          <a:ln xmlns:a="http://schemas.openxmlformats.org/drawingml/2006/main" w="9525">
            <a:solidFill>
              <a:srgbClr val="5B667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65E7B-C87D-4477-A09C-AD72BD93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860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适合确定性业务流程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23054-770A-4554-9FE3-3056A273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675"/>
          </a:solidFill>
          <a:ln xmlns:a="http://schemas.openxmlformats.org/drawingml/2006/main" w="9525">
            <a:solidFill>
              <a:srgbClr val="5B667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F62FA-FE36-4C54-98FB-A3309FA7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99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恢复点与审批位置可显式设计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B9F0A-203D-489D-AC63-CFCADF24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675"/>
          </a:solidFill>
          <a:ln xmlns:a="http://schemas.openxmlformats.org/drawingml/2006/main" w="9525">
            <a:solidFill>
              <a:srgbClr val="5B667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F01F8-ADA7-4055-9E43-9FEEB335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LLM step 仍复用 Harness / Plugin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B2E0D-0809-411F-BB36-38EF2C01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一个可恢复、可审批的发布流程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9D4441-831D-4418-82BC-5AB458BC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2514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0B5229-E1FF-4BB6-A89C-18D0FE8E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DRAFT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4EAAD-D87C-4815-B39B-0F62A525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生成草稿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CE7E1-F1CC-460B-84BE-6C6365C4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43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461F74-6FE8-4057-8FD4-BF9F27C2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38650"/>
            <a:ext cx="2514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E9379F-1CE8-4EAD-BB23-E04CD360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101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CHECK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05BB6-486E-4EB2-BF0C-C34D17BF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625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确定性校验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DC014D-FB7E-4B8B-A752-0AC01AA3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43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361C8D-2702-45B5-B601-140BB785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2514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4DCE58-995B-496B-9C7B-EE476AF9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01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HUMAN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4FEB5E-6EF2-4419-B381-CDD2906D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625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人工批准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6BD120-8F64-4DF6-A32B-67D59A46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43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E2525B-6BF4-42EF-97D1-DF3CAC3C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38650"/>
            <a:ext cx="2514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F6F0"/>
          </a:solidFill>
          <a:ln xmlns:a="http://schemas.openxmlformats.org/drawingml/2006/main" w="9525">
            <a:solidFill>
              <a:srgbClr val="E7F6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B7C8FB-EB8F-434E-9FBD-3F9D474A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101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PUBLISH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A29ECD-D67E-4657-AFE9-35722D0D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9625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34FAF1-D7B6-42B0-B141-379AEE9F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DF70ED-6FC4-40D5-9E0C-A25D53B7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TaskStore 保存任务状态与 step 历史；恢复从显式 step 开始，不宣称能在任意 mid-step 崩溃点无损续跑。</a:t>
            </a:r>
          </a:p>
        </p:txBody>
      </p:sp>
    </p:spTree>
    <p:extLst>
      <p:ext uri="{BB962C8B-B14F-4D97-AF65-F5344CB8AC3E}">
        <p14:creationId xmlns:p14="http://schemas.microsoft.com/office/powerpoint/2010/main" val="19829216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F15DA-F47B-4491-B9B4-E1A1B549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1DF23-703F-4B7A-AB3E-FB553EC8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06 ·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F04AC-94C2-4DFE-BE74-29CB68ED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一次跑通不等于可靠：Pass@k 与 Pass^k 回答不同问题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4362A-E2E8-447A-89C9-7FD33787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6E6D5-4CE2-43DC-A68F-77E8356D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7D600-54DE-4EAE-8913-AA21C92B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2324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48C9E-205A-4B14-809D-A608B677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ACADEMY TEACHING RUNNER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400050" y="17907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4d5abd4bb6400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1EE1E-BC38-4B0E-9B70-F21CF7AC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524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751A0-F47D-4734-97B5-C23BBC91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288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82.9%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B1D16-3A5A-4304-8656-F2970A34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192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Bare 的 Pass@3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5A866-D179-474C-A4E5-700A2498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0275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三次里至少成功一次，看“能力上限”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80A2D-41BA-4746-83A8-3E60DB56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67050"/>
            <a:ext cx="5524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472F6-67B1-499A-BB50-D0460964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766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8.8%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DF245-2476-4928-BC58-1F5B139D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670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Bare 的 Pass³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3C553-F43B-4D70-948E-6B4E3D6F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连续三次都成功，看“业务可靠性”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80C57-DAF5-40F6-A57C-72A109A0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5524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7F6F0"/>
          </a:solidFill>
          <a:ln xmlns:a="http://schemas.openxmlformats.org/drawingml/2006/main" w="9525">
            <a:solidFill>
              <a:srgbClr val="E7F6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BD838-9A7D-44D8-A0FE-AAB940DD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244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9 / 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FD752-EC78-46E4-AAAA-8FE8385C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148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Guarded 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F295F-58C9-48CA-91B4-BDF8E336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95875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略高成本，换取稳定路径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69DE9-E621-43E8-8FE0-FDED7B6B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000750"/>
            <a:ext cx="552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59B0D-B7C7-48D2-AFA1-C6AE19A1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38850"/>
            <a:ext cx="521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结论：选 Guarded variant</a:t>
            </a:r>
          </a:p>
        </p:txBody>
      </p:sp>
    </p:spTree>
    <p:extLst>
      <p:ext uri="{BB962C8B-B14F-4D97-AF65-F5344CB8AC3E}">
        <p14:creationId xmlns:p14="http://schemas.microsoft.com/office/powerpoint/2010/main" val="14427993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CE03E-3ACE-44B8-9590-56F5DBD3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5B9F1-1820-4425-9B75-ABC2F742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07 · MULTI-AGENT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CE1E8-EE3B-441A-A7DB-C7A0AD94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多 Agent 的第一价值是上下文隔离，不是角色数量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67EDE-9A3A-476A-9D21-A21400B5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20031-A6C4-4A82-9689-3C3A15DD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14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2C8F1-7002-4912-BE76-A9DDF087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335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B92BF-8B1F-4294-A2B8-C974DA51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3716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PREVIEW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9A3F5-43AD-4139-8535-86F8DB6C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57350"/>
            <a:ext cx="4191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499DE-4D31-43F9-8B60-52E7CA9E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669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MANAGER / MAIN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774D3-798F-47E7-A453-45E141AB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D5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9D5E6"/>
                </a:solidFill>
                <a:latin typeface="Microsoft YaHei"/>
                <a:ea typeface="Microsoft YaHei"/>
                <a:cs typeface="Microsoft YaHei"/>
              </a:rPr>
              <a:t>分解任务 · 管理生命周期 · 汇总结果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FBA5D-82B2-4F81-932E-19A41312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CE2"/>
          </a:solidFill>
          <a:ln xmlns:a="http://schemas.openxmlformats.org/drawingml/2006/main" w="0">
            <a:solidFill>
              <a:srgbClr val="A9C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D13DF-7C06-428A-BED3-2402F879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52800"/>
            <a:ext cx="613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CE2"/>
          </a:solidFill>
          <a:ln xmlns:a="http://schemas.openxmlformats.org/drawingml/2006/main" w="0">
            <a:solidFill>
              <a:srgbClr val="A9C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07154-D808-4B07-AE35-28E376D8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528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CE2"/>
          </a:solidFill>
          <a:ln xmlns:a="http://schemas.openxmlformats.org/drawingml/2006/main" w="0">
            <a:solidFill>
              <a:srgbClr val="A9C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C60D3-A9E9-4C0E-82D6-789CC97E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CE2"/>
          </a:solidFill>
          <a:ln xmlns:a="http://schemas.openxmlformats.org/drawingml/2006/main" w="0">
            <a:solidFill>
              <a:srgbClr val="A9C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31437-6D6B-4D04-8ADA-BD7737F3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3810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DA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E93E7-D089-42C5-83F5-79734EBC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57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CHILD A · DONE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D07AC-400A-42DD-AEF3-0F0BD791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5295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独立上下文</a:t>
            </a:r>
          </a:p>
          <a:p xmlns:a="http://schemas.openxmlformats.org/drawingml/2006/main">
            <a:pPr algn="ctr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完成一个纯推理子任务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6A963-5A6F-408B-A82C-88FD8200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3810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04C5B-94ED-46D7-B718-4D0B66BD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957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63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63B45"/>
                </a:solidFill>
                <a:latin typeface="Microsoft YaHei"/>
                <a:ea typeface="Microsoft YaHei"/>
                <a:cs typeface="Microsoft YaHei"/>
              </a:rPr>
              <a:t>CHILD B · ABORTED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DCA01-E158-4F21-93E6-2FE5765D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5295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独立上下文</a:t>
            </a:r>
          </a:p>
          <a:p xmlns:a="http://schemas.openxmlformats.org/drawingml/2006/main">
            <a:pPr algn="ctr">
              <a:def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由 Main 显式终止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66F69-6E4A-4FB5-B600-A7BC9BA4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主侧 5 个管理工具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FE85B-D5EB-4625-8B79-EB5C8343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0B1320"/>
                </a:solidFill>
                <a:latin typeface="Cascadia Mono"/>
                <a:ea typeface="Cascadia Mono"/>
                <a:cs typeface="Cascadia Mono"/>
              </a:rPr>
              <a:t>spawn · message · await · query · abort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3D68A-F866-4C04-B60A-F7587BCD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FD6C1-53D3-4F8A-B5B3-818DEB61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1975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Senza child 使用 NoopPlugin；不自动挂子侧通信工具，也不能递归 spawn。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321EEF-C172-46DF-8D92-BE6978F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579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先承诺“纯推理子任务 + 生命周期管理”，不把基础 spawn 包装成专业 Coding / Research 团队。</a:t>
            </a:r>
          </a:p>
        </p:txBody>
      </p:sp>
    </p:spTree>
    <p:extLst>
      <p:ext uri="{BB962C8B-B14F-4D97-AF65-F5344CB8AC3E}">
        <p14:creationId xmlns:p14="http://schemas.microsoft.com/office/powerpoint/2010/main" val="9483285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C3EF9B-8762-4434-8DF6-29BE32A5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24D1C-1C63-43AD-8A33-92D9924C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07 · IMPROVEMENT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C9AF0-2821-4005-8D81-97D0EBD4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持续改进先更新 Harness 产物，再考虑更新模型参数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6A16B-84C1-461F-8BAD-EC5E99F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BC8CE-1FCC-46D0-A6F7-0F9D5C16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15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FD175-A41C-42B7-A0C3-825C76C1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在线执行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73406-A800-4218-BD2D-B15DD11B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CC5AF-1050-42E4-8F8E-64F99270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28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离线进化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260B5-8E05-4681-8D4E-AE623126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562100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6800"/>
          </a:solidFill>
          <a:ln xmlns:a="http://schemas.openxmlformats.org/drawingml/2006/main" w="0">
            <a:solidFill>
              <a:srgbClr val="A968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080E4-5ABC-4BC9-9BF7-D23E023D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BE0E3-E6C4-4E40-AB3F-EEC6D61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BAD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89858-A746-4EB8-B5D5-E449422A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失败轨迹</a:t>
            </a:r>
          </a:p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与验证证据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41758-52E7-4425-B60E-C2C02D8E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CA1E8-C0CB-4206-A6B7-806D6263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F2F6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7ED77-D248-4DDA-992A-FC3B7C39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DIAGNOSE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0A423-884F-4ADD-BF4E-1FD40037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定位首个</a:t>
            </a:r>
          </a:p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系统性错误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BE4A6-D4A0-4422-9089-6B3AEE56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09EA4-76D9-4582-BE4A-E2CE0DAB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35BB5-F074-45F7-8E44-BEFF433D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PROPOSE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4163E-EF38-4A02-86B9-B5CE9F3B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8605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Plugin / Skill</a:t>
            </a:r>
          </a:p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候选 diff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F52F0-8D03-403F-B384-0913C45D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A15E0-E421-49BF-925A-7A117DF7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3835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6F0"/>
          </a:solidFill>
          <a:ln xmlns:a="http://schemas.openxmlformats.org/drawingml/2006/main" w="9525">
            <a:solidFill>
              <a:srgbClr val="E7F6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6E167-67ED-4D04-BB42-3900A3A4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041790-31BB-4A5E-BEFC-355E264B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边界测试</a:t>
            </a:r>
          </a:p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+ 保留集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9DBA1-6A61-4DA6-B593-C4886FC9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583835-A08F-4A77-929A-5D6B5313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3835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22AC3-BED5-4225-A51E-B11A744E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669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HUMAN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8FA05-26A4-4F20-AC40-2657E82F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8605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审批后</a:t>
            </a:r>
          </a:p>
          <a:p xmlns:a="http://schemas.openxmlformats.org/drawingml/2006/main">
            <a:pPr algn="ctr">
              <a:def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再发布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8C4970-60EC-4A84-A553-5417D13A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69532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F18DC-7E77-4E54-95BE-C0C8D022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C7C1C6-AAB0-4505-9A03-262A364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LAB 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E3438C-6A3A-4763-B7B7-EE9B5A7F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63B4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B63B45"/>
                </a:solidFill>
                <a:latin typeface="Cascadia Mono"/>
                <a:ea typeface="Cascadia Mono"/>
                <a:cs typeface="Cascadia Mono"/>
              </a:rPr>
              <a:t>DELETE 缺少 WHERE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96144-C81D-4F9B-BFDB-95555134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43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DCE7F5-9581-4DB7-A5B9-FA736C23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5295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生成 db-safety Plugin + Skill 提案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A58D5C-2772-4760-8312-ED82F486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验证 protected boundary 与 retention cases，最终状态停在 awaiting_human_approval。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7613A0-C5DA-49DC-9785-FD0290EE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48100"/>
            <a:ext cx="40957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5C58F2-53D0-44FD-A9FF-89E358AE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76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不会自动做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0A2247-ED6B-4C68-B98B-83E81C2B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3562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install / production write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self-modify safety / SFT / RL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D25EFE-6B9C-45A1-AF59-449D2F31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原则：把执行与进化分离，把边界与审批前置。</a:t>
            </a:r>
          </a:p>
        </p:txBody>
      </p:sp>
    </p:spTree>
    <p:extLst>
      <p:ext uri="{BB962C8B-B14F-4D97-AF65-F5344CB8AC3E}">
        <p14:creationId xmlns:p14="http://schemas.microsoft.com/office/powerpoint/2010/main" val="19098314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AF4CDE-B3C2-497F-B393-6C0E1E51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84CBC-3AE8-44C5-B02F-158E01C5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08 ·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93A9C-6FA4-4070-A822-26645C3E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十个实验，把理论、机制、证据和边界连成一条路径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A43FA-2D43-4BB2-B988-BC2320AD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AA6B2"/>
                </a:solidFill>
                <a:latin typeface="Microsoft YaHei"/>
                <a:ea typeface="Microsoft YaHei"/>
                <a:cs typeface="Microsoft YaHei"/>
              </a:rPr>
              <a:t>SENZA ACADEMY  ·  LEARNING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372C4-04A8-4BB8-A5C2-F616BBFE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C2C7D-C340-479B-9872-1C5707ED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76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38698-2678-40E6-9E0A-6A2C0443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5B275-7E71-4459-9115-61CAE5EB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ReAct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1A1AE-6674-432D-9C35-781B5914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rPr>
              <a:t>Core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05813-57EC-445F-88C0-BF37B0CB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STABLE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CF4AD-4301-4C1E-B94D-ED01C591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076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8B419-E4BD-4D81-9E79-45B0ECCD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2E334-D1D8-4B04-B723-7A320BB7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812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Hook X-ray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C4A57-A58D-4B5C-A0B2-EBBDC803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241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rPr>
              <a:t>12 hooks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BEC04-BD95-4860-B962-070B709E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STABLE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452AB-734C-47A7-8112-2D6A5728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76400"/>
            <a:ext cx="2076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D0F14-062C-4C9F-99CE-42303039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3D91B-E6EA-4005-A7CC-F753FD45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812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DB 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754C7-6EB7-42A6-AFA9-3125CEAF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241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rPr>
              <a:t>Plugin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87F09-647A-47B4-81BB-F0FB7368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STABLE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8E7CB-9D34-493A-AE28-0BC8D093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76400"/>
            <a:ext cx="2076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C79FF3-6625-49DB-9287-3F808EFB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B337A-10B6-461E-9F26-AA094121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812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F5F09-63AD-4B6F-A562-86CF0C28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241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rPr>
              <a:t>layers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67C35-819A-4161-ACA2-86853BEC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STABLE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E455C-D6D2-4650-9C0A-4340C89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76400"/>
            <a:ext cx="2076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D2D2CB-E532-43A5-9AD1-853CEF9B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BCF6C-EE0A-499F-B5DC-34BD4355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812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Coding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59D08E-EA75-46D3-A40C-208F0220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241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rPr>
              <a:t>guardrails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48E58B-9EBE-48D8-A6DD-A46398DE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813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STABLE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5237A2-B1A7-41CE-B288-F5C50EE2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076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460738-3DBA-4009-A747-28D8691D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475C6D-BAB5-4391-A36A-DCEA3FC4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97FB85-5989-461E-964A-7405B4C5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rPr>
              <a:t>recovery/HITL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58AD72-7184-447E-A6AB-359C05F5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STABLE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E0F268-81EA-4E61-BCE3-91157AF6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14700"/>
            <a:ext cx="2076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3C4EDC-7F40-4801-B299-89D925E7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86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D51099-01A8-42C8-88C9-3EE66A94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19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Knowledge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6929A7-2489-40E8-ADD8-43AABFA8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624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rPr>
              <a:t>memory/recall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0AC30A-B148-49A4-B744-A5A1276A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196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PREVIEW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C44774-1F0A-407D-BE1D-448CFAE3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14700"/>
            <a:ext cx="2076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E4AAEF-F29D-45C3-B4D7-11E6F1BE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86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0F398C-4167-4706-AD1A-F1C11005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19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Multi-Agent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AD007B-0D5F-4994-AC6A-2DE53AC4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624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rPr>
              <a:t>basic spawn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CD886B-3308-4598-86D2-FFDA4E86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196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A96800"/>
                </a:solidFill>
                <a:latin typeface="Microsoft YaHei"/>
                <a:ea typeface="Microsoft YaHei"/>
                <a:cs typeface="Microsoft YaHei"/>
              </a:rPr>
              <a:t>PREVIEW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63180D-696E-4DD2-8962-47E488FC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2076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2F1D3D-02DE-4090-8A2C-EE435F62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86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C120F6-232E-4B3D-88C9-4870ADD7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19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Reliability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220647-05CA-43E9-93B2-E660155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624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rPr>
              <a:t>eval runner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6306E6-4AF9-4562-9E23-886A7BA5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196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TEACHING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38EE9F-62E1-4D9F-9810-08B5E0BF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14700"/>
            <a:ext cx="2076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B8E2A7-7FB8-4D15-8EEB-9EDE891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86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DB5FB8-2168-4808-8AB3-953BBD56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19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320"/>
                </a:solidFill>
                <a:latin typeface="Microsoft YaHei"/>
                <a:ea typeface="Microsoft YaHei"/>
                <a:cs typeface="Microsoft YaHei"/>
              </a:rPr>
              <a:t>Improve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2E18D6-6045-4A14-90D0-5FA8FA41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624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5B6675"/>
                </a:solidFill>
                <a:latin typeface="Cascadia Mono"/>
                <a:ea typeface="Cascadia Mono"/>
                <a:cs typeface="Cascadia Mono"/>
              </a:rPr>
              <a:t>proposal only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6C550F-83BD-4675-AB15-60569A4E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196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37A5B"/>
                </a:solidFill>
                <a:latin typeface="Microsoft YaHei"/>
                <a:ea typeface="Microsoft YaHei"/>
                <a:cs typeface="Microsoft YaHei"/>
              </a:rPr>
              <a:t>TEACHING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9C7574-50AE-4C01-A100-44240303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919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0"/>
          </a:solidFill>
          <a:ln xmlns:a="http://schemas.openxmlformats.org/drawingml/2006/main" w="9525">
            <a:solidFill>
              <a:srgbClr val="0B132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DADA67-62E0-40AB-9F1E-EE5A127C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建议上手顺序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9215D7-EFDA-4AFC-AAF3-CE1FF425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76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先跑 recorded，理解事件轨迹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35BE3B-681F-4359-A50D-B63085C5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76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1CD98D-2D28-43CF-825D-947DA74F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再连 Provider，观察真实循环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91CE75-ADCF-40EB-81DA-B63BA3EA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76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FCDCF6-ADAD-4165-9F06-7FDC58A3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768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替换自己的 Tool / Store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E3E00D4-ACD4-487D-BF35-D5F6B19D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D5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9D5E6"/>
                </a:solidFill>
                <a:latin typeface="Microsoft YaHei"/>
                <a:ea typeface="Microsoft YaHei"/>
                <a:cs typeface="Microsoft YaHei"/>
              </a:rPr>
              <a:t>10 / 10 recorded demos · 54 offline tests · 全部实验带 golden trace 与成熟度标识</a:t>
            </a:r>
          </a:p>
        </p:txBody>
      </p:sp>
    </p:spTree>
    <p:extLst>
      <p:ext uri="{BB962C8B-B14F-4D97-AF65-F5344CB8AC3E}">
        <p14:creationId xmlns:p14="http://schemas.microsoft.com/office/powerpoint/2010/main" val="1830012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2026-08-19T02:56:22.0310000Z</dcterms:created>
  <dcterms:modified xsi:type="dcterms:W3CDTF">2026-08-19T02:56:22.0310000Z</dcterms:modified>
</coreProperties>
</file>